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0A7A92">
              <a:alpha val="18000"/>
            </a:srgbClr>
          </a:solidFill>
          <a:ln w="12700">
            <a:solidFill>
              <a:srgbClr val="0A7A9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0EA5C2">
              <a:alpha val="12000"/>
            </a:srgbClr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0EA5C2">
              <a:alpha val="82000"/>
            </a:srgbClr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</a:rPr>
              <a:t>EB 조선 EDP  ·  Visio 라이선스 관리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100" kern="0" dirty="0">
                <a:solidFill>
                  <a:srgbClr val="FFFFFF"/>
                </a:solidFill>
              </a:rPr>
              <a:t>🔷 EB Visio LMS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14C6E8"/>
                </a:solidFill>
              </a:rPr>
              <a:t>License Management System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423160"/>
            <a:ext cx="2743200" cy="22860"/>
          </a:xfrm>
          <a:prstGeom prst="rect">
            <a:avLst/>
          </a:prstGeom>
          <a:solidFill>
            <a:srgbClr val="0EA5C2"/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060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8CDD9"/>
                </a:solidFill>
              </a:rPr>
              <a:t>Microsoft Visio 라이선스 신청 · 승인 · 배정 · 관리
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2D3EE"/>
                </a:solidFill>
              </a:rPr>
              <a:t>JSONBin.io 기반 실시간 멀티유저 데이터 동기화 탑재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BF"/>
                </a:solidFill>
              </a:rPr>
              <a:t>ver 1.1  ·  2026.06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0" y="1005840"/>
            <a:ext cx="2468880" cy="1097280"/>
          </a:xfrm>
          <a:prstGeom prst="roundRect">
            <a:avLst>
              <a:gd name="adj" fmla="val 11667"/>
            </a:avLst>
          </a:prstGeom>
          <a:solidFill>
            <a:srgbClr val="243447"/>
          </a:solidFill>
          <a:ln w="10160">
            <a:solidFill>
              <a:srgbClr val="0EA5C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2" y="1280160"/>
            <a:ext cx="411480" cy="4114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059168" y="120700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JSONBin.io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059168" y="15361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BF"/>
                </a:solidFill>
              </a:rPr>
              <a:t>무료 클라우드 DB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00800" y="2304288"/>
            <a:ext cx="2468880" cy="1097280"/>
          </a:xfrm>
          <a:prstGeom prst="roundRect">
            <a:avLst>
              <a:gd name="adj" fmla="val 11667"/>
            </a:avLst>
          </a:prstGeom>
          <a:solidFill>
            <a:srgbClr val="243447"/>
          </a:solidFill>
          <a:ln w="10160">
            <a:solidFill>
              <a:srgbClr val="0EA5C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578608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059168" y="250545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실시간 동기화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059168" y="2834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BF"/>
                </a:solidFill>
              </a:rPr>
              <a:t>15초 폴링 + Push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400800" y="3602736"/>
            <a:ext cx="2468880" cy="1097280"/>
          </a:xfrm>
          <a:prstGeom prst="roundRect">
            <a:avLst>
              <a:gd name="adj" fmla="val 11667"/>
            </a:avLst>
          </a:prstGeom>
          <a:solidFill>
            <a:srgbClr val="243447"/>
          </a:solidFill>
          <a:ln w="10160">
            <a:solidFill>
              <a:srgbClr val="0EA5C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3877056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059168" y="380390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멀티유저 공유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7059168" y="41330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BF"/>
                </a:solidFill>
              </a:rPr>
              <a:t>어느 PC에서나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177"/>
                </a:solidFill>
              </a:rPr>
              <a:t>EB  ·  Visio LMS  ·  Internal Use Only  ·  작성: 조선 EDH 그룹, 홍광섭 프로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EA5C2">
              <a:alpha val="10000"/>
            </a:srgbClr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A5C2"/>
                </a:solidFill>
              </a:rPr>
              <a:t>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목  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749808"/>
          </a:xfrm>
          <a:prstGeom prst="roundRect">
            <a:avLst>
              <a:gd name="adj" fmla="val 12195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527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C2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4996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배경 및 필요성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8196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BF"/>
                </a:solidFill>
              </a:rPr>
              <a:t>왜 이 시스템이 필요한가?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114800" cy="749808"/>
          </a:xfrm>
          <a:prstGeom prst="roundRect">
            <a:avLst>
              <a:gd name="adj" fmla="val 12195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C2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3682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시스템 목적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6883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BF"/>
                </a:solidFill>
              </a:rPr>
              <a:t>무엇을 해결하는가?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4114800" cy="749808"/>
          </a:xfrm>
          <a:prstGeom prst="roundRect">
            <a:avLst>
              <a:gd name="adj" fmla="val 12195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264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C2"/>
                </a:solidFill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32369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라이선스 등록 신청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35570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BF"/>
                </a:solidFill>
              </a:rPr>
              <a:t>로그인 없이 즉시 신청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4114800" cy="749808"/>
          </a:xfrm>
          <a:prstGeom prst="roundRect">
            <a:avLst>
              <a:gd name="adj" fmla="val 12195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4133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C2"/>
                </a:solidFill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410565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주요 기능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44256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BF"/>
                </a:solidFill>
              </a:rPr>
              <a:t>6가지 핵심 메뉴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92040" y="1417320"/>
            <a:ext cx="4114800" cy="749808"/>
          </a:xfrm>
          <a:prstGeom prst="roundRect">
            <a:avLst>
              <a:gd name="adj" fmla="val 12195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0" y="1527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C2"/>
                </a:solidFill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77840" y="14996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업무 흐름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77840" y="18196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BF"/>
                </a:solidFill>
              </a:rPr>
              <a:t>어떻게 사용하는가?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92040" y="2286000"/>
            <a:ext cx="4114800" cy="749808"/>
          </a:xfrm>
          <a:prstGeom prst="roundRect">
            <a:avLst>
              <a:gd name="adj" fmla="val 12195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C2"/>
                </a:solidFill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77840" y="23682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유용한 점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77840" y="26883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BF"/>
                </a:solidFill>
              </a:rPr>
              <a:t>어떤 이점이 있는가?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92040" y="3154680"/>
            <a:ext cx="4114800" cy="749808"/>
          </a:xfrm>
          <a:prstGeom prst="roundRect">
            <a:avLst>
              <a:gd name="adj" fmla="val 12195"/>
            </a:avLst>
          </a:prstGeom>
          <a:solidFill>
            <a:srgbClr val="0A7A92">
              <a:alpha val="90000"/>
            </a:srgbClr>
          </a:solidFill>
          <a:ln w="19050">
            <a:solidFill>
              <a:srgbClr val="0EA5C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0" y="3264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07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577840" y="32369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🆕 실시간 데이터 공유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77840" y="35570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C6E8"/>
                </a:solidFill>
              </a:rPr>
              <a:t>JSONBin.io 멀티유저 동기화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92040" y="4023360"/>
            <a:ext cx="4114800" cy="749808"/>
          </a:xfrm>
          <a:prstGeom prst="roundRect">
            <a:avLst>
              <a:gd name="adj" fmla="val 12195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0" y="4133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C2"/>
                </a:solidFill>
              </a:rPr>
              <a:t>08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577840" y="410565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GitHub 웹 배포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577840" y="44256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BF"/>
                </a:solidFill>
              </a:rPr>
              <a:t>언제 어디서든 접근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177"/>
                </a:solidFill>
              </a:rPr>
              <a:t>EB  ·  Visio LMS  ·  ver 1.1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0EA5C2">
              <a:alpha val="10000"/>
            </a:srgbClr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C2"/>
                </a:solidFill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배경 및 필요성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4BF"/>
                </a:solidFill>
              </a:rPr>
              <a:t>왜 이 시스템이 필요했는가?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3886200" cy="3246120"/>
          </a:xfrm>
          <a:prstGeom prst="roundRect">
            <a:avLst>
              <a:gd name="adj" fmla="val 4225"/>
            </a:avLst>
          </a:prstGeom>
          <a:solidFill>
            <a:srgbClr val="2D1A1A"/>
          </a:solidFill>
          <a:ln w="12700">
            <a:solidFill>
              <a:srgbClr val="5C3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737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777"/>
                </a:solidFill>
              </a:rPr>
              <a:t>❌  기존 방식의 문제점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DD9"/>
                </a:solidFill>
              </a:rPr>
              <a:t>•  수작업 Excel 관리 → 버전 불일치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61518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DD9"/>
                </a:solidFill>
              </a:rPr>
              <a:t>•  라이선스 중복 배정 / 미회수 발생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0358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DD9"/>
                </a:solidFill>
              </a:rPr>
              <a:t>•  신청·승인 절차 불투명 (이메일 의존)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4564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DD9"/>
                </a:solidFill>
              </a:rPr>
              <a:t>•  가용 수량 실시간 파악 불가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87705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DD9"/>
                </a:solidFill>
              </a:rPr>
              <a:t>•  감사 시 이력 추적 불가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42976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DD9"/>
                </a:solidFill>
              </a:rPr>
              <a:t>•  데이터 공유 불가 → PC마다 파편화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15968" y="3017520"/>
            <a:ext cx="502920" cy="22860"/>
          </a:xfrm>
          <a:prstGeom prst="rect">
            <a:avLst/>
          </a:prstGeom>
          <a:solidFill>
            <a:srgbClr val="0EA5C2"/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79392" y="28346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C2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892040" y="1645920"/>
            <a:ext cx="3886200" cy="3246120"/>
          </a:xfrm>
          <a:prstGeom prst="roundRect">
            <a:avLst>
              <a:gd name="adj" fmla="val 4225"/>
            </a:avLst>
          </a:prstGeom>
          <a:solidFill>
            <a:srgbClr val="0D2A1E"/>
          </a:solidFill>
          <a:ln w="12700">
            <a:solidFill>
              <a:srgbClr val="0A7A9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✅  EB Visio LMS 도입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21945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DD9"/>
                </a:solidFill>
              </a:rPr>
              <a:t>✓  단일 시스템 — 실시간 현황 통합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261518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DD9"/>
                </a:solidFill>
              </a:rPr>
              <a:t>✓  자동 배정 → 중복·누락 원천 차단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30358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DD9"/>
                </a:solidFill>
              </a:rPr>
              <a:t>✓  온라인 신청·승인 워크플로우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34564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DD9"/>
                </a:solidFill>
              </a:rPr>
              <a:t>✓  Dashboard KPI 즉시 확인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387705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DD9"/>
                </a:solidFill>
              </a:rPr>
              <a:t>✓  Audit Log 완전 보존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42976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DD9"/>
                </a:solidFill>
              </a:rPr>
              <a:t>✓  JSONBin.io → 멀티유저 실시간 공유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177"/>
                </a:solidFill>
              </a:rPr>
              <a:t>EB  ·  Visio LMS  ·  ver 1.1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EA5C2">
              <a:alpha val="10000"/>
            </a:srgbClr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C2"/>
                </a:solidFill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시스템 목적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4BF"/>
                </a:solidFill>
              </a:rPr>
              <a:t>EB Visio LMS 가 해결하는 4가지 핵심 과제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4114800" cy="1417320"/>
          </a:xfrm>
          <a:prstGeom prst="roundRect">
            <a:avLst>
              <a:gd name="adj" fmla="val 9677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011680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8562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누구나 즉시 신청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70432" y="2221992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8CDD9"/>
                </a:solidFill>
              </a:rPr>
              <a:t>로그인 없이 신청 가능.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8CDD9"/>
                </a:solidFill>
              </a:rPr>
              <a:t>이름·사번·유형 입력만으로 즉시 신청 접수.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1691640"/>
            <a:ext cx="4114800" cy="1417320"/>
          </a:xfrm>
          <a:prstGeom prst="roundRect">
            <a:avLst>
              <a:gd name="adj" fmla="val 9677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2011680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9552" y="18562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투명한 승인 프로세스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559552" y="2221992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8CDD9"/>
                </a:solidFill>
              </a:rPr>
              <a:t>모든 신청·승인·반려 이력이 시스템에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8CDD9"/>
                </a:solidFill>
              </a:rPr>
              <a:t>영구 기록되어 감사 추적이 가능합니다.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65760" y="3291840"/>
            <a:ext cx="4114800" cy="1417320"/>
          </a:xfrm>
          <a:prstGeom prst="roundRect">
            <a:avLst>
              <a:gd name="adj" fmla="val 9677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611880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70432" y="34564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라이선스 낭비 제로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170432" y="3822192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8CDD9"/>
                </a:solidFill>
              </a:rPr>
              <a:t>미사용 라이선스 즉시 회수·재배정.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8CDD9"/>
                </a:solidFill>
              </a:rPr>
              <a:t>중복 배정과 누락을 원천 차단합니다.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754880" y="3291840"/>
            <a:ext cx="4114800" cy="1417320"/>
          </a:xfrm>
          <a:prstGeom prst="roundRect">
            <a:avLst>
              <a:gd name="adj" fmla="val 9677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611880"/>
            <a:ext cx="475488" cy="4754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559552" y="34564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즉시 운영 가능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559552" y="3822192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8CDD9"/>
                </a:solidFill>
              </a:rPr>
              <a:t>서버·설치 없이 HTML 파일 하나로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8CDD9"/>
                </a:solidFill>
              </a:rPr>
              <a:t>GitHub Pages 배포 즉시 전 팀 공유.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177"/>
                </a:solidFill>
              </a:rPr>
              <a:t>EB  ·  Visio LMS  ·  ver 1.1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731520"/>
            <a:ext cx="3200400" cy="3200400"/>
          </a:xfrm>
          <a:prstGeom prst="ellipse">
            <a:avLst/>
          </a:prstGeom>
          <a:solidFill>
            <a:srgbClr val="0EA5C2">
              <a:alpha val="10000"/>
            </a:srgbClr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C2"/>
                </a:solidFill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라이선스 등록 신청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4BF"/>
                </a:solidFill>
              </a:rPr>
              <a:t>로그인 없이 — 누구나 즉시 접근 가능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8412480" cy="438912"/>
          </a:xfrm>
          <a:prstGeom prst="roundRect">
            <a:avLst>
              <a:gd name="adj" fmla="val 16667"/>
            </a:avLst>
          </a:prstGeom>
          <a:solidFill>
            <a:srgbClr val="0A7A92">
              <a:alpha val="70000"/>
            </a:srgbClr>
          </a:solidFill>
          <a:ln w="10160">
            <a:solidFill>
              <a:srgbClr val="0EA5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7276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D3EE"/>
                </a:solidFill>
              </a:rPr>
              <a:t>🔓  로그인 화면에서 '📝 라이선스 등록 신청' 버튼 클릭 → 팝업 즉시 진입  |  별도 로그인 과정 없음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" y="2176272"/>
            <a:ext cx="1536192" cy="2423160"/>
          </a:xfrm>
          <a:prstGeom prst="roundRect">
            <a:avLst>
              <a:gd name="adj" fmla="val 7143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340864"/>
            <a:ext cx="548640" cy="548640"/>
          </a:xfrm>
          <a:prstGeom prst="ellipse">
            <a:avLst/>
          </a:prstGeom>
          <a:solidFill>
            <a:srgbClr val="0EA5C2"/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340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30175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버튼 클릭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20624" y="3419856"/>
            <a:ext cx="14081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DD9"/>
                </a:solidFill>
              </a:rPr>
              <a:t>로그인 화면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DD9"/>
                </a:solidFill>
              </a:rPr>
              <a:t>'📝 라이선스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DD9"/>
                </a:solidFill>
              </a:rPr>
              <a:t>등록 신청'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28800" y="3044952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C2"/>
                </a:solidFill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048256" y="2176272"/>
            <a:ext cx="1536192" cy="2423160"/>
          </a:xfrm>
          <a:prstGeom prst="roundRect">
            <a:avLst>
              <a:gd name="adj" fmla="val 7143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42032" y="2340864"/>
            <a:ext cx="548640" cy="548640"/>
          </a:xfrm>
          <a:prstGeom prst="ellipse">
            <a:avLst/>
          </a:prstGeom>
          <a:solidFill>
            <a:srgbClr val="0EA5C2"/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42032" y="2340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39696" y="30175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정보 입력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121408" y="3419856"/>
            <a:ext cx="14081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DD9"/>
                </a:solidFill>
              </a:rPr>
              <a:t>이름·사번·그룹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DD9"/>
                </a:solidFill>
              </a:rPr>
              <a:t>Knox 계정 입력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29584" y="3044952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C2"/>
                </a:solidFill>
              </a:rPr>
              <a:t>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749040" y="2176272"/>
            <a:ext cx="1536192" cy="2423160"/>
          </a:xfrm>
          <a:prstGeom prst="roundRect">
            <a:avLst>
              <a:gd name="adj" fmla="val 7143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42816" y="2340864"/>
            <a:ext cx="548640" cy="548640"/>
          </a:xfrm>
          <a:prstGeom prst="ellipse">
            <a:avLst/>
          </a:prstGeom>
          <a:solidFill>
            <a:srgbClr val="0EA5C2"/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42816" y="2340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0" y="30175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유형 선택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822192" y="3419856"/>
            <a:ext cx="14081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DD9"/>
                </a:solidFill>
              </a:rPr>
              <a:t>Process(의장)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DD9"/>
                </a:solidFill>
              </a:rPr>
              <a:t>Detail(전장)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230368" y="3044952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C2"/>
                </a:solidFill>
              </a:rPr>
              <a:t>›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449824" y="2176272"/>
            <a:ext cx="1536192" cy="2423160"/>
          </a:xfrm>
          <a:prstGeom prst="roundRect">
            <a:avLst>
              <a:gd name="adj" fmla="val 7143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43600" y="2340864"/>
            <a:ext cx="548640" cy="548640"/>
          </a:xfrm>
          <a:prstGeom prst="ellipse">
            <a:avLst/>
          </a:prstGeom>
          <a:solidFill>
            <a:srgbClr val="0EA5C2"/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2340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41264" y="30175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신청 제출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522976" y="3419856"/>
            <a:ext cx="14081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DD9"/>
                </a:solidFill>
              </a:rPr>
              <a:t>정책 동의 후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DD9"/>
                </a:solidFill>
              </a:rPr>
              <a:t>신청 완료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931152" y="3044952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C2"/>
                </a:solidFill>
              </a:rPr>
              <a:t>›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150608" y="2176272"/>
            <a:ext cx="1536192" cy="2423160"/>
          </a:xfrm>
          <a:prstGeom prst="roundRect">
            <a:avLst>
              <a:gd name="adj" fmla="val 7143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644384" y="2340864"/>
            <a:ext cx="548640" cy="548640"/>
          </a:xfrm>
          <a:prstGeom prst="ellipse">
            <a:avLst/>
          </a:prstGeom>
          <a:solidFill>
            <a:srgbClr val="0EA5C2"/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44384" y="2340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242048" y="30175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관리자 승인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223760" y="3419856"/>
            <a:ext cx="14081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DD9"/>
                </a:solidFill>
              </a:rPr>
              <a:t>승인 후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DD9"/>
                </a:solidFill>
              </a:rPr>
              <a:t>자동 배정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4617720"/>
            <a:ext cx="4206240" cy="402336"/>
          </a:xfrm>
          <a:prstGeom prst="roundRect">
            <a:avLst>
              <a:gd name="adj" fmla="val 18182"/>
            </a:avLst>
          </a:prstGeom>
          <a:solidFill>
            <a:srgbClr val="0D1B2A"/>
          </a:solidFill>
          <a:ln w="10160">
            <a:solidFill>
              <a:srgbClr val="0A7A9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461772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DD9"/>
                </a:solidFill>
              </a:rPr>
              <a:t>📌  기존 사용자  —  이름+사번이 DB에 있으면 해당 계정으로 신청 접수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00600" y="4617720"/>
            <a:ext cx="4206240" cy="402336"/>
          </a:xfrm>
          <a:prstGeom prst="roundRect">
            <a:avLst>
              <a:gd name="adj" fmla="val 18182"/>
            </a:avLst>
          </a:prstGeom>
          <a:solidFill>
            <a:srgbClr val="0D1B2A"/>
          </a:solidFill>
          <a:ln w="10160">
            <a:solidFill>
              <a:srgbClr val="0A7A9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0328" y="461772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DD9"/>
                </a:solidFill>
              </a:rPr>
              <a:t>📌  신규 사용자  —  DB에 없으면 자동 등록 후 신청 접수 처리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EA5C2">
              <a:alpha val="10000"/>
            </a:srgbClr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C2"/>
                </a:solidFill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주요 기능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4BF"/>
                </a:solidFill>
              </a:rPr>
              <a:t>로그인 후 5가지 핵심 메뉴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697480" cy="1508760"/>
          </a:xfrm>
          <a:prstGeom prst="roundRect">
            <a:avLst>
              <a:gd name="adj" fmla="val 9091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728216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2821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전체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20756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Dashboard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47802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CDD9"/>
                </a:solidFill>
              </a:rPr>
              <a:t>Pool 현황 KPI·차트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CDD9"/>
                </a:solidFill>
              </a:rPr>
              <a:t>최근 7일 변경 내역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600200"/>
            <a:ext cx="2697480" cy="1508760"/>
          </a:xfrm>
          <a:prstGeom prst="roundRect">
            <a:avLst>
              <a:gd name="adj" fmla="val 9091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728216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72821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전체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29000" y="20756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라이선스 해지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247802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CDD9"/>
                </a:solidFill>
              </a:rPr>
              <a:t>보유 라이선스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CDD9"/>
                </a:solidFill>
              </a:rPr>
              <a:t>해지 온라인 요청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600200"/>
            <a:ext cx="2697480" cy="1508760"/>
          </a:xfrm>
          <a:prstGeom prst="roundRect">
            <a:avLst>
              <a:gd name="adj" fmla="val 9091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1728216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72821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전체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355080" y="20756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현황 조회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247802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CDD9"/>
                </a:solidFill>
              </a:rPr>
              <a:t>전체 배정 현황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CDD9"/>
                </a:solidFill>
              </a:rPr>
              <a:t>Excel 다운로드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319272"/>
            <a:ext cx="2697480" cy="1508760"/>
          </a:xfrm>
          <a:prstGeom prst="roundRect">
            <a:avLst>
              <a:gd name="adj" fmla="val 9091"/>
            </a:avLst>
          </a:prstGeom>
          <a:solidFill>
            <a:srgbClr val="24344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3447288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44728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관리자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37947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승인 관리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419709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CDD9"/>
                </a:solidFill>
              </a:rPr>
              <a:t>신청·해지 승인/반려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CDD9"/>
                </a:solidFill>
              </a:rPr>
              <a:t>요청 이력 조회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3319272"/>
            <a:ext cx="2697480" cy="1508760"/>
          </a:xfrm>
          <a:prstGeom prst="roundRect">
            <a:avLst>
              <a:gd name="adj" fmla="val 9091"/>
            </a:avLst>
          </a:prstGeom>
          <a:solidFill>
            <a:srgbClr val="24344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29000" y="3447288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0EA5C2">
              <a:alpha val="80000"/>
            </a:srgbClr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344728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관리자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29000" y="37947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관리자 설정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429000" y="419709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CDD9"/>
                </a:solidFill>
              </a:rPr>
              <a:t>사용자·Pool·이력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CDD9"/>
                </a:solidFill>
              </a:rPr>
              <a:t>시스템 정보 관리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617720"/>
            <a:ext cx="8412480" cy="402336"/>
          </a:xfrm>
          <a:prstGeom prst="roundRect">
            <a:avLst>
              <a:gd name="adj" fmla="val 18182"/>
            </a:avLst>
          </a:prstGeom>
          <a:solidFill>
            <a:srgbClr val="0D1B2A"/>
          </a:solidFill>
          <a:ln w="10160">
            <a:solidFill>
              <a:srgbClr val="0A7A9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61772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D3EE"/>
                </a:solidFill>
              </a:rPr>
              <a:t>💡  라이선스 신청은 로그인 화면의 '📝 라이선스 등록 신청' 버튼으로 처리됩니다 — 사이드바 메뉴에 없음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0EA5C2">
              <a:alpha val="10000"/>
            </a:srgbClr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C2"/>
                </a:solidFill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업무 흐름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4BF"/>
                </a:solidFill>
              </a:rPr>
              <a:t>비로그인 신청부터 배정까지 5단계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719072"/>
            <a:ext cx="1536192" cy="2377440"/>
          </a:xfrm>
          <a:prstGeom prst="roundRect">
            <a:avLst>
              <a:gd name="adj" fmla="val 7143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883664"/>
            <a:ext cx="548640" cy="548640"/>
          </a:xfrm>
          <a:prstGeom prst="ellipse">
            <a:avLst/>
          </a:prstGeom>
          <a:solidFill>
            <a:srgbClr val="0EA5C2"/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883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254203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로그인 전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신청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8912" y="320040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DD9"/>
                </a:solidFill>
              </a:rPr>
              <a:t>버튼 클릭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DD9"/>
                </a:solidFill>
              </a:rPr>
              <a:t>즉시 진입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28800" y="2542032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C2"/>
                </a:solidFill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048256" y="1719072"/>
            <a:ext cx="1536192" cy="2377440"/>
          </a:xfrm>
          <a:prstGeom prst="roundRect">
            <a:avLst>
              <a:gd name="adj" fmla="val 7143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42032" y="1883664"/>
            <a:ext cx="548640" cy="548640"/>
          </a:xfrm>
          <a:prstGeom prst="ellipse">
            <a:avLst/>
          </a:prstGeom>
          <a:solidFill>
            <a:srgbClr val="0EA5C2"/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1883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39696" y="254203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정보 입력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제출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139696" y="320040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DD9"/>
                </a:solidFill>
              </a:rPr>
              <a:t>이름·유형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DD9"/>
                </a:solidFill>
              </a:rPr>
              <a:t>입력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29584" y="2542032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C2"/>
                </a:solidFill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749040" y="1719072"/>
            <a:ext cx="1536192" cy="2377440"/>
          </a:xfrm>
          <a:prstGeom prst="roundRect">
            <a:avLst>
              <a:gd name="adj" fmla="val 7143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42816" y="1883664"/>
            <a:ext cx="548640" cy="548640"/>
          </a:xfrm>
          <a:prstGeom prst="ellipse">
            <a:avLst/>
          </a:prstGeom>
          <a:solidFill>
            <a:srgbClr val="0EA5C2"/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42816" y="1883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40480" y="254203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관리자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승인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840480" y="320040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DD9"/>
                </a:solidFill>
              </a:rPr>
              <a:t>승인 / 반려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230368" y="2542032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C2"/>
                </a:solidFill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449824" y="1719072"/>
            <a:ext cx="1536192" cy="2377440"/>
          </a:xfrm>
          <a:prstGeom prst="roundRect">
            <a:avLst>
              <a:gd name="adj" fmla="val 7143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0" y="1883664"/>
            <a:ext cx="548640" cy="548640"/>
          </a:xfrm>
          <a:prstGeom prst="ellipse">
            <a:avLst/>
          </a:prstGeom>
          <a:solidFill>
            <a:srgbClr val="0EA5C2"/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1883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41264" y="254203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자동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배정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541264" y="320040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DD9"/>
                </a:solidFill>
              </a:rPr>
              <a:t>시리얼번호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DD9"/>
                </a:solidFill>
              </a:rPr>
              <a:t>자동 배정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31152" y="2542032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C2"/>
                </a:solidFill>
              </a:rPr>
              <a:t>›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150608" y="1719072"/>
            <a:ext cx="1536192" cy="2377440"/>
          </a:xfrm>
          <a:prstGeom prst="roundRect">
            <a:avLst>
              <a:gd name="adj" fmla="val 7143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644384" y="1883664"/>
            <a:ext cx="548640" cy="548640"/>
          </a:xfrm>
          <a:prstGeom prst="ellipse">
            <a:avLst/>
          </a:prstGeom>
          <a:solidFill>
            <a:srgbClr val="0EA5C2"/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44384" y="1883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42048" y="254203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현황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확인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242048" y="320040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DD9"/>
                </a:solidFill>
              </a:rPr>
              <a:t>Dashboard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DD9"/>
                </a:solidFill>
              </a:rPr>
              <a:t>조회·Excel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4315968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0D1B2A"/>
          </a:solidFill>
          <a:ln w="10160">
            <a:solidFill>
              <a:srgbClr val="0A7A9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3159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</a:rPr>
              <a:t>💡  해지 신청도 동일한 승인 흐름으로 처리  |  승인 완료 즉시 시리얼번호가 Pool로 자동 반납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EA5C2">
              <a:alpha val="10000"/>
            </a:srgbClr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C2"/>
                </a:solidFill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유용한 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4BF"/>
                </a:solidFill>
              </a:rPr>
              <a:t>도입 효과 &amp; 실사용 장점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697480" cy="1389888"/>
          </a:xfrm>
          <a:prstGeom prst="roundRect">
            <a:avLst>
              <a:gd name="adj" fmla="val 7895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24128" y="17647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로그인 없이 즉시 신청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224028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DD9"/>
                </a:solidFill>
              </a:rPr>
              <a:t>누구든 로그인 화면에서 바로 신청 가능. IT 문의나 대기 없이 스스로 처리합니다.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600200"/>
            <a:ext cx="2697480" cy="1389888"/>
          </a:xfrm>
          <a:prstGeom prst="roundRect">
            <a:avLst>
              <a:gd name="adj" fmla="val 7895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56432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950208" y="17647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즉시 도입, 제로 설치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56432" y="224028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DD9"/>
                </a:solidFill>
              </a:rPr>
              <a:t>HTML 파일 하나로 완성. 서버·소프트웨어 설치 없이 브라우저만으로 즉시 운영.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2697480" cy="1389888"/>
          </a:xfrm>
          <a:prstGeom prst="roundRect">
            <a:avLst>
              <a:gd name="adj" fmla="val 7895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82512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76288" y="17647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실시간 현황 가시화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82512" y="224028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DD9"/>
                </a:solidFill>
              </a:rPr>
              <a:t>Dashboard에서 이용률·그룹별 현황·최근 변경 내역을 한눈에 파악합니다.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172968"/>
            <a:ext cx="2697480" cy="1389888"/>
          </a:xfrm>
          <a:prstGeom prst="roundRect">
            <a:avLst>
              <a:gd name="adj" fmla="val 7895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0352" y="3355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24128" y="3337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완전한 감사 추적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" y="381304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DD9"/>
                </a:solidFill>
              </a:rPr>
              <a:t>모든 신청·승인·배정·삭제 이력이 Audit Log에 자동 저장됩니다.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91840" y="3172968"/>
            <a:ext cx="2697480" cy="1389888"/>
          </a:xfrm>
          <a:prstGeom prst="roundRect">
            <a:avLst>
              <a:gd name="adj" fmla="val 7895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56432" y="3355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📥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950208" y="3337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Excel 연동 백업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56432" y="381304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DD9"/>
                </a:solidFill>
              </a:rPr>
              <a:t>현황 조회에서 즉시 Excel 다운로드. 기존 방식과 병행 운영이 손쉽습니다.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17920" y="3172968"/>
            <a:ext cx="2697480" cy="1389888"/>
          </a:xfrm>
          <a:prstGeom prst="roundRect">
            <a:avLst>
              <a:gd name="adj" fmla="val 7895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82512" y="3355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876288" y="3337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GitHub Pages 웹 배포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82512" y="381304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DD9"/>
                </a:solidFill>
              </a:rPr>
              <a:t>URL 하나로 PC·모바일 어디서나 접속. 파일 배포 없이 항상 최신 버전 유지.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EA5C2">
              <a:alpha val="12000"/>
            </a:srgbClr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4114800" cy="4114800"/>
          </a:xfrm>
          <a:prstGeom prst="ellipse">
            <a:avLst/>
          </a:prstGeom>
          <a:solidFill>
            <a:srgbClr val="0A7A92">
              <a:alpha val="12000"/>
            </a:srgbClr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74320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0EA5C2">
              <a:alpha val="82000"/>
            </a:srgbClr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07  ·  🆕 NEW FEATURE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실시간 데이터 공유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C6E8"/>
                </a:solidFill>
              </a:rPr>
              <a:t>JSONBin.io 기반 멀티유저 동기화 — API Key &amp; Bin ID 고정 내장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920240"/>
            <a:ext cx="2286000" cy="1691640"/>
          </a:xfrm>
          <a:prstGeom prst="roundRect">
            <a:avLst>
              <a:gd name="adj" fmla="val 8108"/>
            </a:avLst>
          </a:prstGeom>
          <a:solidFill>
            <a:srgbClr val="243447"/>
          </a:solidFill>
          <a:ln w="10160">
            <a:solidFill>
              <a:srgbClr val="4A617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34440" y="20299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2560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PC A (사용자)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889504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DD9"/>
                </a:solidFill>
              </a:rPr>
              <a:t>라이선스 신청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DD9"/>
                </a:solidFill>
              </a:rPr>
              <a:t>데이터 입력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24912" y="260604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C2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24912" y="29992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A5C2"/>
                </a:solidFill>
              </a:rPr>
              <a:t>PUT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29000" y="1783080"/>
            <a:ext cx="2286000" cy="2029968"/>
          </a:xfrm>
          <a:prstGeom prst="roundRect">
            <a:avLst>
              <a:gd name="adj" fmla="val 8108"/>
            </a:avLst>
          </a:prstGeom>
          <a:solidFill>
            <a:srgbClr val="0A7A92">
              <a:alpha val="88000"/>
            </a:srgbClr>
          </a:solidFill>
          <a:ln w="25400">
            <a:solidFill>
              <a:srgbClr val="0EA5C2"/>
            </a:solidFill>
            <a:prstDash val="solid"/>
          </a:ln>
          <a:effectLst>
            <a:outerShdw sx="100000" sy="100000" kx="0" ky="0" algn="bl" rotWithShape="0" blurRad="177800" dist="76200" dir="8100000">
              <a:srgbClr val="000000">
                <a:alpha val="40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984248"/>
            <a:ext cx="548640" cy="5486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520440" y="25877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JSONBin.io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520440" y="28986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C6E8"/>
                </a:solidFill>
              </a:rPr>
              <a:t>무료 클라우드 DB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520440" y="324612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4BF"/>
                </a:solidFill>
              </a:rPr>
              <a:t>api.jsonbin.io/v3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687568" y="260604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C2"/>
                </a:solidFill>
              </a:rPr>
              <a:t>←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687568" y="29992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A5C2"/>
                </a:solidFill>
              </a:rPr>
              <a:t>GET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446520" y="1920240"/>
            <a:ext cx="2286000" cy="1691640"/>
          </a:xfrm>
          <a:prstGeom prst="roundRect">
            <a:avLst>
              <a:gd name="adj" fmla="val 8108"/>
            </a:avLst>
          </a:prstGeom>
          <a:solidFill>
            <a:srgbClr val="243447"/>
          </a:solidFill>
          <a:ln w="10160">
            <a:solidFill>
              <a:srgbClr val="4A617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269480" y="20299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6537960" y="2560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PC B (관리자)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537960" y="2889504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DD9"/>
                </a:solidFill>
              </a:rPr>
              <a:t>실시간 현황 확인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DD9"/>
                </a:solidFill>
              </a:rPr>
              <a:t>승인·배정 처리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11480" y="3794760"/>
            <a:ext cx="8321040" cy="384048"/>
          </a:xfrm>
          <a:prstGeom prst="roundRect">
            <a:avLst>
              <a:gd name="adj" fmla="val 23810"/>
            </a:avLst>
          </a:prstGeom>
          <a:solidFill>
            <a:srgbClr val="243447"/>
          </a:solidFill>
          <a:ln w="10160">
            <a:solidFill>
              <a:srgbClr val="0A7A9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1480" y="379476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</a:rPr>
              <a:t>🔄 15초마다 자동 폴링  ·  탭 복귀 시 즉시 동기화  ·  저장 즉시 업로드  ·  F5로 수동 동기화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11480" y="4315968"/>
            <a:ext cx="1965960" cy="640080"/>
          </a:xfrm>
          <a:prstGeom prst="roundRect">
            <a:avLst>
              <a:gd name="adj" fmla="val 14286"/>
            </a:avLst>
          </a:prstGeom>
          <a:solidFill>
            <a:srgbClr val="243447"/>
          </a:solidFill>
          <a:ln w="10160">
            <a:solidFill>
              <a:srgbClr val="0EA5C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02920" y="435254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API Key 고정 내장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02920" y="460857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4BF"/>
                </a:solidFill>
              </a:rPr>
              <a:t>코드에 영구 설정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514600" y="4315968"/>
            <a:ext cx="1965960" cy="640080"/>
          </a:xfrm>
          <a:prstGeom prst="roundRect">
            <a:avLst>
              <a:gd name="adj" fmla="val 14286"/>
            </a:avLst>
          </a:prstGeom>
          <a:solidFill>
            <a:srgbClr val="243447"/>
          </a:solidFill>
          <a:ln w="10160">
            <a:solidFill>
              <a:srgbClr val="0EA5C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2606040" y="435254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Bin ID 고정 내장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606040" y="460857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4BF"/>
                </a:solidFill>
              </a:rPr>
              <a:t>단일 DB 공유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617720" y="4315968"/>
            <a:ext cx="1965960" cy="640080"/>
          </a:xfrm>
          <a:prstGeom prst="roundRect">
            <a:avLst>
              <a:gd name="adj" fmla="val 14286"/>
            </a:avLst>
          </a:prstGeom>
          <a:solidFill>
            <a:srgbClr val="243447"/>
          </a:solidFill>
          <a:ln w="10160">
            <a:solidFill>
              <a:srgbClr val="0EA5C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4709160" y="435254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무료 서비스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709160" y="460857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4BF"/>
                </a:solidFill>
              </a:rPr>
              <a:t>jsonbin.io 무료 플랜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720840" y="4315968"/>
            <a:ext cx="1965960" cy="640080"/>
          </a:xfrm>
          <a:prstGeom prst="roundRect">
            <a:avLst>
              <a:gd name="adj" fmla="val 14286"/>
            </a:avLst>
          </a:prstGeom>
          <a:solidFill>
            <a:srgbClr val="243447"/>
          </a:solidFill>
          <a:ln w="10160">
            <a:solidFill>
              <a:srgbClr val="0EA5C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6812280" y="435254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Zero 설치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812280" y="460857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4BF"/>
                </a:solidFill>
              </a:rPr>
              <a:t>HTML만으로 동작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EA5C2">
              <a:alpha val="10000"/>
            </a:srgbClr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0EA5C2">
              <a:alpha val="82000"/>
            </a:srgbClr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07  ·  기술 상세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JSONBin.io 동기화 구현 방식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4BF"/>
                </a:solidFill>
              </a:rPr>
              <a:t>HTML 단일 파일 — 고정 API Key + Bin ID — 어느 PC에서든 자동 동기화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4160520" cy="320040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 w="15240">
            <a:solidFill>
              <a:srgbClr val="0A7A9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" y="17922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// HTML 파일 내 고정 설정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2103120"/>
            <a:ext cx="382219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JSONBIN_API_KEY</a:t>
            </a:r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$2a$10$AnfRJkl...moQg06</a:t>
            </a:r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';
</a:t>
            </a:r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JSONBIN_BIN_ID</a:t>
            </a:r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6a39b74df5f4af5e291fcff3</a:t>
            </a:r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';
</a:t>
            </a:r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15초 자동 폴링
</a:t>
            </a:r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setInterval</a:t>
            </a:r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(()=&gt;</a:t>
            </a:r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syncFromShared</a:t>
            </a:r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</a:t>
            </a:r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15000</a:t>
            </a:r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
</a:t>
            </a:r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PUT (저장)
</a:t>
            </a:r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(`api.jsonbin.io/v3/b/${id}`,</a:t>
            </a:r>
            <a:pPr indent="0" marL="0">
              <a:lnSpc>
                <a:spcPct val="135000"/>
              </a:lnSpc>
              <a:buNone/>
            </a:pP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method: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'PUT'</a:t>
            </a:r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body:</a:t>
            </a:r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JSON.stringify(DB)</a:t>
            </a:r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
</a:t>
            </a:r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 (읽기 · 폴링)
</a:t>
            </a:r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(`api.jsonbin.io/v3/b/${id}/latest`);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664208"/>
            <a:ext cx="4041648" cy="685800"/>
          </a:xfrm>
          <a:prstGeom prst="roundRect">
            <a:avLst>
              <a:gd name="adj" fmla="val 13333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28032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85232" y="1755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앱 시작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85232" y="20299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DD9"/>
                </a:solidFill>
              </a:rPr>
              <a:t>JSONBin에서 최신 DB 즉시 로드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2468880"/>
            <a:ext cx="4041648" cy="685800"/>
          </a:xfrm>
          <a:prstGeom prst="roundRect">
            <a:avLst>
              <a:gd name="adj" fmla="val 13333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28032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💾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85232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데이터 저장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85232" y="283464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DD9"/>
                </a:solidFill>
              </a:rPr>
              <a:t>300ms throttle 후 자동 PUT 업로드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3273552"/>
            <a:ext cx="4041648" cy="685800"/>
          </a:xfrm>
          <a:prstGeom prst="roundRect">
            <a:avLst>
              <a:gd name="adj" fmla="val 13333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28032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85232" y="3364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15초 폴링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85232" y="36393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DD9"/>
                </a:solidFill>
              </a:rPr>
              <a:t>변경 감지 시에만 UI 자동 갱신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4078224"/>
            <a:ext cx="4041648" cy="685800"/>
          </a:xfrm>
          <a:prstGeom prst="roundRect">
            <a:avLst>
              <a:gd name="adj" fmla="val 13333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28032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👁️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85232" y="4169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탭 복귀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85232" y="444398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DD9"/>
                </a:solidFill>
              </a:rPr>
              <a:t>포커스 복귀 즉시 동기화 실행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4919472"/>
            <a:ext cx="4041648" cy="457200"/>
          </a:xfrm>
          <a:prstGeom prst="roundRect">
            <a:avLst>
              <a:gd name="adj" fmla="val 20000"/>
            </a:avLst>
          </a:prstGeom>
          <a:solidFill>
            <a:srgbClr val="0D1B2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49194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⚡ 무료 한도: 월 10,000 req · Bin당 100KB — 소규모 팀 사용에 충분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0" y="491032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177"/>
                </a:solidFill>
              </a:rPr>
              <a:t>EB  ·  Visio LMS  ·  ver 1.1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731520"/>
            <a:ext cx="3200400" cy="3200400"/>
          </a:xfrm>
          <a:prstGeom prst="ellipse">
            <a:avLst/>
          </a:prstGeom>
          <a:solidFill>
            <a:srgbClr val="0EA5C2">
              <a:alpha val="10000"/>
            </a:srgbClr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C2"/>
                </a:solidFill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GitHub 웹 배포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4BF"/>
                </a:solidFill>
              </a:rPr>
              <a:t>언제 어디서든 — URL 하나로 팀 전체 공유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697480" cy="1828800"/>
          </a:xfrm>
          <a:prstGeom prst="roundRect">
            <a:avLst>
              <a:gd name="adj" fmla="val 7000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737360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0EA5C2">
              <a:alpha val="85000"/>
            </a:srgbClr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737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2064" y="210312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HTML 파일 업로드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12064" y="2523744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8CDD9"/>
                </a:solidFill>
              </a:rPr>
              <a:t>EB_Visio_LMS_v4.html 을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8CDD9"/>
                </a:solidFill>
              </a:rPr>
              <a:t>GitHub Repository에 push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63040" y="34930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C2"/>
                </a:solidFill>
              </a:rPr>
              <a:t>↓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91840" y="1600200"/>
            <a:ext cx="2697480" cy="1828800"/>
          </a:xfrm>
          <a:prstGeom prst="roundRect">
            <a:avLst>
              <a:gd name="adj" fmla="val 7000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56432" y="1737360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0EA5C2">
              <a:alpha val="85000"/>
            </a:srgbClr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1737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38144" y="210312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GitHub Pages 활성화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38144" y="2523744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8CDD9"/>
                </a:solidFill>
              </a:rPr>
              <a:t>Settings → Pages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8CDD9"/>
                </a:solidFill>
              </a:rPr>
              <a:t>Branch: main / root → Save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0" y="34930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C2"/>
                </a:solidFill>
              </a:rPr>
              <a:t>↓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217920" y="1600200"/>
            <a:ext cx="2697480" cy="1828800"/>
          </a:xfrm>
          <a:prstGeom prst="roundRect">
            <a:avLst>
              <a:gd name="adj" fmla="val 7000"/>
            </a:avLst>
          </a:prstGeom>
          <a:solidFill>
            <a:srgbClr val="243447"/>
          </a:solidFill>
          <a:ln w="6350">
            <a:solidFill>
              <a:srgbClr val="4A617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82512" y="1737360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0EA5C2">
              <a:alpha val="85000"/>
            </a:srgbClr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1737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64224" y="210312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웹 URL 자동 생성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64224" y="2523744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8CDD9"/>
                </a:solidFill>
              </a:rPr>
              <a:t>https://[org].github.io/visio-lms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8CDD9"/>
                </a:solidFill>
              </a:rPr>
              <a:t>즉시 접속·사용 가능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703320"/>
            <a:ext cx="4160520" cy="502920"/>
          </a:xfrm>
          <a:prstGeom prst="roundRect">
            <a:avLst>
              <a:gd name="adj" fmla="val 14545"/>
            </a:avLst>
          </a:prstGeom>
          <a:solidFill>
            <a:srgbClr val="0D1B2A"/>
          </a:solidFill>
          <a:ln w="6350">
            <a:solidFill>
              <a:srgbClr val="4A61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76732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" y="37581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PC · 모바일 어디서나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8680" y="397764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D9"/>
                </a:solidFill>
              </a:rPr>
              <a:t>URL 하나로 스마트폰·태블릿·사무실 PC 동일 접속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73168" y="3703320"/>
            <a:ext cx="4160520" cy="502920"/>
          </a:xfrm>
          <a:prstGeom prst="roundRect">
            <a:avLst>
              <a:gd name="adj" fmla="val 14545"/>
            </a:avLst>
          </a:prstGeom>
          <a:solidFill>
            <a:srgbClr val="0D1B2A"/>
          </a:solidFill>
          <a:ln w="6350">
            <a:solidFill>
              <a:srgbClr val="4A61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82896" y="376732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🔁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76088" y="37581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항상 최신 버전 자동 반영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76088" y="397764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D9"/>
                </a:solidFill>
              </a:rPr>
              <a:t>파일 re-push 한 번으로 전 사용자 최신 버전 사용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4297680"/>
            <a:ext cx="4160520" cy="502920"/>
          </a:xfrm>
          <a:prstGeom prst="roundRect">
            <a:avLst>
              <a:gd name="adj" fmla="val 14545"/>
            </a:avLst>
          </a:prstGeom>
          <a:solidFill>
            <a:srgbClr val="0D1B2A"/>
          </a:solidFill>
          <a:ln w="6350">
            <a:solidFill>
              <a:srgbClr val="4A61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436168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🔐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68680" y="43525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Private Repo 보안 설정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68680" y="457200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D9"/>
                </a:solidFill>
              </a:rPr>
              <a:t>조직 내부용은 Private 저장소로 외부 접근 차단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73168" y="4297680"/>
            <a:ext cx="4160520" cy="502920"/>
          </a:xfrm>
          <a:prstGeom prst="roundRect">
            <a:avLst>
              <a:gd name="adj" fmla="val 14545"/>
            </a:avLst>
          </a:prstGeom>
          <a:solidFill>
            <a:srgbClr val="0D1B2A"/>
          </a:solidFill>
          <a:ln w="6350">
            <a:solidFill>
              <a:srgbClr val="4A61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82896" y="436168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📢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76088" y="43525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링크 한 번으로 전사 공유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76088" y="457200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DD9"/>
                </a:solidFill>
              </a:rPr>
              <a:t>사내 공지·메신저에 URL 공유, 파일 배포 완전 불필요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0EA5C2">
              <a:alpha val="12000"/>
            </a:srgbClr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286000"/>
            <a:ext cx="5029200" cy="5029200"/>
          </a:xfrm>
          <a:prstGeom prst="ellipse">
            <a:avLst/>
          </a:prstGeom>
          <a:solidFill>
            <a:srgbClr val="0A7A92">
              <a:alpha val="12000"/>
            </a:srgbClr>
          </a:solidFill>
          <a:ln w="12700">
            <a:solidFill>
              <a:srgbClr val="0EA5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0" y="384048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🔷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11430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EB Visio LMS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19019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C6E8"/>
                </a:solidFill>
              </a:rPr>
              <a:t>스마트하게 관리하고, 낭비 없이 운영하세요.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28800" y="2578608"/>
            <a:ext cx="5486400" cy="292608"/>
          </a:xfrm>
          <a:prstGeom prst="roundRect">
            <a:avLst>
              <a:gd name="adj" fmla="val 18750"/>
            </a:avLst>
          </a:prstGeom>
          <a:solidFill>
            <a:srgbClr val="243447">
              <a:alpha val="60000"/>
            </a:srgbClr>
          </a:solidFill>
          <a:ln w="3810">
            <a:solidFill>
              <a:srgbClr val="4A61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01952" y="2578608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8FF"/>
                </a:solidFill>
              </a:rPr>
              <a:t>🔓  로그인 없이 즉시 신청 — 누구나 접근 가능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2916936"/>
            <a:ext cx="5486400" cy="292608"/>
          </a:xfrm>
          <a:prstGeom prst="roundRect">
            <a:avLst>
              <a:gd name="adj" fmla="val 18750"/>
            </a:avLst>
          </a:prstGeom>
          <a:solidFill>
            <a:srgbClr val="243447">
              <a:alpha val="60000"/>
            </a:srgbClr>
          </a:solidFill>
          <a:ln w="3810">
            <a:solidFill>
              <a:srgbClr val="4A61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01952" y="2916936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8FF"/>
                </a:solidFill>
              </a:rPr>
              <a:t>📁  단일 HTML 파일 — 설치 없이 즉시 사용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0" y="3255264"/>
            <a:ext cx="5486400" cy="292608"/>
          </a:xfrm>
          <a:prstGeom prst="roundRect">
            <a:avLst>
              <a:gd name="adj" fmla="val 18750"/>
            </a:avLst>
          </a:prstGeom>
          <a:solidFill>
            <a:srgbClr val="243447">
              <a:alpha val="60000"/>
            </a:srgbClr>
          </a:solidFill>
          <a:ln w="3810">
            <a:solidFill>
              <a:srgbClr val="4A61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01952" y="3255264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8FF"/>
                </a:solidFill>
              </a:rPr>
              <a:t>🔄  신청 → 승인 → 배정 자동화 워크플로우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0" y="3593592"/>
            <a:ext cx="5486400" cy="292608"/>
          </a:xfrm>
          <a:prstGeom prst="roundRect">
            <a:avLst>
              <a:gd name="adj" fmla="val 18750"/>
            </a:avLst>
          </a:prstGeom>
          <a:solidFill>
            <a:srgbClr val="243447">
              <a:alpha val="60000"/>
            </a:srgbClr>
          </a:solidFill>
          <a:ln w="3810">
            <a:solidFill>
              <a:srgbClr val="4A61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01952" y="3593592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8FF"/>
                </a:solidFill>
              </a:rPr>
              <a:t>📊  실시간 Dashboard &amp; Excel 백업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0" y="3931920"/>
            <a:ext cx="5486400" cy="292608"/>
          </a:xfrm>
          <a:prstGeom prst="roundRect">
            <a:avLst>
              <a:gd name="adj" fmla="val 18750"/>
            </a:avLst>
          </a:prstGeom>
          <a:solidFill>
            <a:srgbClr val="243447">
              <a:alpha val="60000"/>
            </a:srgbClr>
          </a:solidFill>
          <a:ln w="3810">
            <a:solidFill>
              <a:srgbClr val="4A61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01952" y="393192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8FF"/>
                </a:solidFill>
              </a:rPr>
              <a:t>🔒  완전한 감사 로그 &amp; 권한 분리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0" y="4270248"/>
            <a:ext cx="5486400" cy="292608"/>
          </a:xfrm>
          <a:prstGeom prst="roundRect">
            <a:avLst>
              <a:gd name="adj" fmla="val 18750"/>
            </a:avLst>
          </a:prstGeom>
          <a:solidFill>
            <a:srgbClr val="0A7A92">
              <a:alpha val="80000"/>
            </a:srgbClr>
          </a:solidFill>
          <a:ln w="10160">
            <a:solidFill>
              <a:srgbClr val="0EA5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01952" y="4270248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🌐  JSONBin.io — 멀티유저 실시간 데이터 동기화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4608576"/>
            <a:ext cx="5486400" cy="292608"/>
          </a:xfrm>
          <a:prstGeom prst="roundRect">
            <a:avLst>
              <a:gd name="adj" fmla="val 18750"/>
            </a:avLst>
          </a:prstGeom>
          <a:solidFill>
            <a:srgbClr val="0A7A92">
              <a:alpha val="80000"/>
            </a:srgbClr>
          </a:solidFill>
          <a:ln w="10160">
            <a:solidFill>
              <a:srgbClr val="0EA5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01952" y="4608576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🌍  GitHub Pages — URL 하나로 언제 어디서든 접속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177"/>
                </a:solidFill>
              </a:rPr>
              <a:t>EB  ·  Visio LMS  ·  ver 1.1  ·  2026.06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 Visio LMS 소개 (Updated)</dc:title>
  <dc:subject>PptxGenJS Presentation</dc:subject>
  <dc:creator>EB · Visio LMS</dc:creator>
  <cp:lastModifiedBy>EB · Visio LMS</cp:lastModifiedBy>
  <cp:revision>1</cp:revision>
  <dcterms:created xsi:type="dcterms:W3CDTF">2026-06-22T23:19:45Z</dcterms:created>
  <dcterms:modified xsi:type="dcterms:W3CDTF">2026-06-22T23:19:45Z</dcterms:modified>
</cp:coreProperties>
</file>