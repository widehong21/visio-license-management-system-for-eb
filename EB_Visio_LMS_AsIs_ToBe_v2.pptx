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5486400" cy="5486400"/>
          </a:xfrm>
          <a:prstGeom prst="ellipse">
            <a:avLst/>
          </a:prstGeom>
          <a:solidFill>
            <a:srgbClr val="7B1A12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5029200" cy="5029200"/>
          </a:xfrm>
          <a:prstGeom prst="ellipse">
            <a:avLst/>
          </a:prstGeom>
          <a:solidFill>
            <a:srgbClr val="0A6A7E">
              <a:alpha val="1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188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EB Visio LMS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5303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</a:rPr>
              <a:t>Visio 라이선스 관리 시스템  ·  현재 방식과 개선 방향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2026. 06  ·  ver 1.1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914400"/>
            <a:ext cx="12161520" cy="20117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950976"/>
            <a:ext cx="4983480" cy="5522976"/>
          </a:xfrm>
          <a:prstGeom prst="roundRect">
            <a:avLst>
              <a:gd name="adj" fmla="val 3303"/>
            </a:avLst>
          </a:prstGeom>
          <a:solidFill>
            <a:srgbClr val="1A0C0B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177800" dist="63500" dir="90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950976"/>
            <a:ext cx="4983480" cy="5522976"/>
          </a:xfrm>
          <a:prstGeom prst="roundRect">
            <a:avLst>
              <a:gd name="adj" fmla="val 3303"/>
            </a:avLst>
          </a:prstGeom>
          <a:solidFill>
            <a:srgbClr val="071A22"/>
          </a:solidFill>
          <a:ln w="15240">
            <a:solidFill>
              <a:srgbClr val="0EA5C2"/>
            </a:solidFill>
            <a:prstDash val="solid"/>
          </a:ln>
          <a:effectLst>
            <a:outerShdw sx="100000" sy="100000" kx="0" ky="0" algn="bl" rotWithShape="0" blurRad="177800" dist="63500" dir="78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4592" y="950976"/>
            <a:ext cx="4983480" cy="658368"/>
          </a:xfrm>
          <a:prstGeom prst="roundRect">
            <a:avLst>
              <a:gd name="adj" fmla="val 25000"/>
            </a:avLst>
          </a:prstGeom>
          <a:solidFill>
            <a:srgbClr val="7B1A12">
              <a:alpha val="9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444752"/>
            <a:ext cx="4983480" cy="164592"/>
          </a:xfrm>
          <a:prstGeom prst="rect">
            <a:avLst/>
          </a:prstGeom>
          <a:solidFill>
            <a:srgbClr val="7B1A12">
              <a:alpha val="9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042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6B6B"/>
                </a:solidFill>
              </a:rPr>
              <a:t>AS-IS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" y="1289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현재 방식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" y="12984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6B6B"/>
                </a:solidFill>
              </a:rPr>
              <a:t>수작업 · 이메일 의존 · 파편화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73368" y="950976"/>
            <a:ext cx="4983480" cy="658368"/>
          </a:xfrm>
          <a:prstGeom prst="roundRect">
            <a:avLst>
              <a:gd name="adj" fmla="val 25000"/>
            </a:avLst>
          </a:prstGeom>
          <a:solidFill>
            <a:srgbClr val="0A6A7E">
              <a:alpha val="9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1444752"/>
            <a:ext cx="4983480" cy="164592"/>
          </a:xfrm>
          <a:prstGeom prst="rect">
            <a:avLst/>
          </a:prstGeom>
          <a:solidFill>
            <a:srgbClr val="0A6A7E">
              <a:alpha val="9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1042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2D3EE"/>
                </a:solidFill>
              </a:rPr>
              <a:t>TO-BE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01968" y="1289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개선 방향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12984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</a:rPr>
              <a:t>자동화 · 투명 · 누구나 · 언제어디서나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3163824"/>
            <a:ext cx="914400" cy="914400"/>
          </a:xfrm>
          <a:prstGeom prst="ellipse">
            <a:avLst/>
          </a:prstGeom>
          <a:solidFill>
            <a:srgbClr val="162D42"/>
          </a:solidFill>
          <a:ln w="19050">
            <a:solidFill>
              <a:srgbClr val="0A6A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31638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25780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9BB5"/>
                </a:solidFill>
              </a:rPr>
              <a:t>개선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1737360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7B1A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" y="1828800"/>
            <a:ext cx="320040" cy="320040"/>
          </a:xfrm>
          <a:prstGeom prst="ellipse">
            <a:avLst/>
          </a:prstGeom>
          <a:solidFill>
            <a:srgbClr val="7B1A12">
              <a:alpha val="70000"/>
            </a:srgbClr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865376"/>
            <a:ext cx="246888" cy="24688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14400" y="1792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수작업 Excel 관리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14400" y="2048256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담당자마다 파일 버전이 달라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중복 배정·누락이 빈번하게 발생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38912" y="2604211"/>
            <a:ext cx="4434840" cy="7315"/>
          </a:xfrm>
          <a:prstGeom prst="rect">
            <a:avLst/>
          </a:prstGeom>
          <a:solidFill>
            <a:srgbClr val="7B1A12">
              <a:alpha val="50000"/>
            </a:srgbClr>
          </a:solidFill>
          <a:ln w="12700">
            <a:solidFill>
              <a:srgbClr val="7B1A1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2677363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7B1A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4632" y="2768803"/>
            <a:ext cx="320040" cy="320040"/>
          </a:xfrm>
          <a:prstGeom prst="ellipse">
            <a:avLst/>
          </a:prstGeom>
          <a:solidFill>
            <a:srgbClr val="7B1A12">
              <a:alpha val="70000"/>
            </a:srgbClr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805379"/>
            <a:ext cx="246888" cy="24688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14400" y="273222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이메일 신청 · 구두 승인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914400" y="2988259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신청 이력이 메일함에 분산되어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처리 현황 파악 및 추적 불가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38912" y="3544214"/>
            <a:ext cx="4434840" cy="7315"/>
          </a:xfrm>
          <a:prstGeom prst="rect">
            <a:avLst/>
          </a:prstGeom>
          <a:solidFill>
            <a:srgbClr val="7B1A12">
              <a:alpha val="50000"/>
            </a:srgbClr>
          </a:solidFill>
          <a:ln w="12700">
            <a:solidFill>
              <a:srgbClr val="7B1A1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47472" y="3617366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7B1A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84632" y="3708806"/>
            <a:ext cx="320040" cy="320040"/>
          </a:xfrm>
          <a:prstGeom prst="ellipse">
            <a:avLst/>
          </a:prstGeom>
          <a:solidFill>
            <a:srgbClr val="7B1A12">
              <a:alpha val="70000"/>
            </a:srgbClr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745382"/>
            <a:ext cx="246888" cy="2468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914400" y="367223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가용 수량 파악 불가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914400" y="3928262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실시간 잔여 라이선스를 알 수 없어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과·미달 배정이 반복적으로 발생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38912" y="4484218"/>
            <a:ext cx="4434840" cy="7315"/>
          </a:xfrm>
          <a:prstGeom prst="rect">
            <a:avLst/>
          </a:prstGeom>
          <a:solidFill>
            <a:srgbClr val="7B1A12">
              <a:alpha val="50000"/>
            </a:srgbClr>
          </a:solidFill>
          <a:ln w="12700">
            <a:solidFill>
              <a:srgbClr val="7B1A12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47472" y="4557370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7B1A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484632" y="4648810"/>
            <a:ext cx="320040" cy="320040"/>
          </a:xfrm>
          <a:prstGeom prst="ellipse">
            <a:avLst/>
          </a:prstGeom>
          <a:solidFill>
            <a:srgbClr val="7B1A12">
              <a:alpha val="70000"/>
            </a:srgbClr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685386"/>
            <a:ext cx="246888" cy="24688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914400" y="461223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감사 이력 없음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914400" y="4868266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누가 언제 신청·승인했는지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기록이 없어 감사 대응 불가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438912" y="5424221"/>
            <a:ext cx="4434840" cy="7315"/>
          </a:xfrm>
          <a:prstGeom prst="rect">
            <a:avLst/>
          </a:prstGeom>
          <a:solidFill>
            <a:srgbClr val="7B1A12">
              <a:alpha val="50000"/>
            </a:srgbClr>
          </a:solidFill>
          <a:ln w="12700">
            <a:solidFill>
              <a:srgbClr val="7B1A12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347472" y="5497373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7B1A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484632" y="5588813"/>
            <a:ext cx="320040" cy="320040"/>
          </a:xfrm>
          <a:prstGeom prst="ellipse">
            <a:avLst/>
          </a:prstGeom>
          <a:solidFill>
            <a:srgbClr val="7B1A12">
              <a:alpha val="70000"/>
            </a:srgbClr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5625389"/>
            <a:ext cx="246888" cy="2468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914400" y="555223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신청 접근 불편</a:t>
            </a:r>
            <a:endParaRPr lang="en-US" sz="1150" dirty="0"/>
          </a:p>
        </p:txBody>
      </p:sp>
      <p:sp>
        <p:nvSpPr>
          <p:cNvPr id="53" name="Text 46"/>
          <p:cNvSpPr/>
          <p:nvPr/>
        </p:nvSpPr>
        <p:spPr>
          <a:xfrm>
            <a:off x="914400" y="5808269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담당자 로그인 후에야 신청 가능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부재 시 업무 지연 발생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556248" y="1737360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0A6A7E"/>
            </a:solidFill>
            <a:prstDash val="solid"/>
          </a:ln>
          <a:effectLst>
            <a:outerShdw sx="100000" sy="100000" kx="0" ky="0" algn="bl" rotWithShape="0" blurRad="76200" dist="25400" dir="7800000">
              <a:srgbClr val="000000">
                <a:alpha val="20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693408" y="1828800"/>
            <a:ext cx="320040" cy="320040"/>
          </a:xfrm>
          <a:prstGeom prst="ellipse">
            <a:avLst/>
          </a:prstGeom>
          <a:solidFill>
            <a:srgbClr val="0A6A7E">
              <a:alpha val="70000"/>
            </a:srgbClr>
          </a:solidFill>
          <a:ln w="6350">
            <a:solidFill>
              <a:srgbClr val="0EA5C2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1865376"/>
            <a:ext cx="246888" cy="24688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7123176" y="1792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로그인 없이 즉시 신청</a:t>
            </a:r>
            <a:endParaRPr lang="en-US" sz="1150" dirty="0"/>
          </a:p>
        </p:txBody>
      </p:sp>
      <p:sp>
        <p:nvSpPr>
          <p:cNvPr id="58" name="Text 50"/>
          <p:cNvSpPr/>
          <p:nvPr/>
        </p:nvSpPr>
        <p:spPr>
          <a:xfrm>
            <a:off x="7123176" y="2048256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버튼 클릭 → 팝업 즉시 진입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누구든 언제나 신청 가능</a:t>
            </a:r>
            <a:endParaRPr lang="en-US" sz="900" dirty="0"/>
          </a:p>
        </p:txBody>
      </p:sp>
      <p:sp>
        <p:nvSpPr>
          <p:cNvPr id="59" name="Shape 51"/>
          <p:cNvSpPr/>
          <p:nvPr/>
        </p:nvSpPr>
        <p:spPr>
          <a:xfrm>
            <a:off x="6647688" y="2604211"/>
            <a:ext cx="4434840" cy="7315"/>
          </a:xfrm>
          <a:prstGeom prst="rect">
            <a:avLst/>
          </a:prstGeom>
          <a:solidFill>
            <a:srgbClr val="0A6A7E">
              <a:alpha val="50000"/>
            </a:srgbClr>
          </a:solidFill>
          <a:ln w="12700">
            <a:solidFill>
              <a:srgbClr val="0A6A7E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6556248" y="2677363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0A6A7E"/>
            </a:solidFill>
            <a:prstDash val="solid"/>
          </a:ln>
          <a:effectLst>
            <a:outerShdw sx="100000" sy="100000" kx="0" ky="0" algn="bl" rotWithShape="0" blurRad="76200" dist="25400" dir="7800000">
              <a:srgbClr val="000000">
                <a:alpha val="20000"/>
              </a:srgbClr>
            </a:outerShdw>
          </a:effectLst>
        </p:spPr>
      </p:sp>
      <p:sp>
        <p:nvSpPr>
          <p:cNvPr id="61" name="Shape 53"/>
          <p:cNvSpPr/>
          <p:nvPr/>
        </p:nvSpPr>
        <p:spPr>
          <a:xfrm>
            <a:off x="6693408" y="2768803"/>
            <a:ext cx="320040" cy="320040"/>
          </a:xfrm>
          <a:prstGeom prst="ellipse">
            <a:avLst/>
          </a:prstGeom>
          <a:solidFill>
            <a:srgbClr val="0A6A7E">
              <a:alpha val="70000"/>
            </a:srgbClr>
          </a:solidFill>
          <a:ln w="6350">
            <a:solidFill>
              <a:srgbClr val="0EA5C2"/>
            </a:solidFill>
            <a:prstDash val="solid"/>
          </a:ln>
        </p:spPr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2805379"/>
            <a:ext cx="246888" cy="246888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7123176" y="273222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온라인 신청 · 자동 배정</a:t>
            </a:r>
            <a:endParaRPr lang="en-US" sz="1150" dirty="0"/>
          </a:p>
        </p:txBody>
      </p:sp>
      <p:sp>
        <p:nvSpPr>
          <p:cNvPr id="64" name="Text 55"/>
          <p:cNvSpPr/>
          <p:nvPr/>
        </p:nvSpPr>
        <p:spPr>
          <a:xfrm>
            <a:off x="7123176" y="2988259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시스템이 가용 시리얼번호를 자동 배정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중복·누락 원천 차단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6647688" y="3544214"/>
            <a:ext cx="4434840" cy="7315"/>
          </a:xfrm>
          <a:prstGeom prst="rect">
            <a:avLst/>
          </a:prstGeom>
          <a:solidFill>
            <a:srgbClr val="0A6A7E">
              <a:alpha val="50000"/>
            </a:srgbClr>
          </a:solidFill>
          <a:ln w="12700">
            <a:solidFill>
              <a:srgbClr val="0A6A7E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6556248" y="3617366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0A6A7E"/>
            </a:solidFill>
            <a:prstDash val="solid"/>
          </a:ln>
          <a:effectLst>
            <a:outerShdw sx="100000" sy="100000" kx="0" ky="0" algn="bl" rotWithShape="0" blurRad="76200" dist="25400" dir="7800000">
              <a:srgbClr val="000000">
                <a:alpha val="20000"/>
              </a:srgbClr>
            </a:outerShdw>
          </a:effectLst>
        </p:spPr>
      </p:sp>
      <p:sp>
        <p:nvSpPr>
          <p:cNvPr id="67" name="Shape 58"/>
          <p:cNvSpPr/>
          <p:nvPr/>
        </p:nvSpPr>
        <p:spPr>
          <a:xfrm>
            <a:off x="6693408" y="3708806"/>
            <a:ext cx="320040" cy="320040"/>
          </a:xfrm>
          <a:prstGeom prst="ellipse">
            <a:avLst/>
          </a:prstGeom>
          <a:solidFill>
            <a:srgbClr val="0A6A7E">
              <a:alpha val="70000"/>
            </a:srgbClr>
          </a:solidFill>
          <a:ln w="6350">
            <a:solidFill>
              <a:srgbClr val="0EA5C2"/>
            </a:solidFill>
            <a:prstDash val="solid"/>
          </a:ln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3745382"/>
            <a:ext cx="246888" cy="246888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7123176" y="367223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승인 워크플로우 + 감사 로그</a:t>
            </a:r>
            <a:endParaRPr lang="en-US" sz="1150" dirty="0"/>
          </a:p>
        </p:txBody>
      </p:sp>
      <p:sp>
        <p:nvSpPr>
          <p:cNvPr id="70" name="Text 60"/>
          <p:cNvSpPr/>
          <p:nvPr/>
        </p:nvSpPr>
        <p:spPr>
          <a:xfrm>
            <a:off x="7123176" y="3928262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신청→승인→배정 전 과정 기록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언제든 이력 조회 및 감사 대응 가능</a:t>
            </a:r>
            <a:endParaRPr lang="en-US" sz="900" dirty="0"/>
          </a:p>
        </p:txBody>
      </p:sp>
      <p:sp>
        <p:nvSpPr>
          <p:cNvPr id="71" name="Shape 61"/>
          <p:cNvSpPr/>
          <p:nvPr/>
        </p:nvSpPr>
        <p:spPr>
          <a:xfrm>
            <a:off x="6647688" y="4484218"/>
            <a:ext cx="4434840" cy="7315"/>
          </a:xfrm>
          <a:prstGeom prst="rect">
            <a:avLst/>
          </a:prstGeom>
          <a:solidFill>
            <a:srgbClr val="0A6A7E">
              <a:alpha val="50000"/>
            </a:srgbClr>
          </a:solidFill>
          <a:ln w="12700">
            <a:solidFill>
              <a:srgbClr val="0A6A7E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6556248" y="4557370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162D42">
              <a:alpha val="80000"/>
            </a:srgbClr>
          </a:solidFill>
          <a:ln w="7620">
            <a:solidFill>
              <a:srgbClr val="0A6A7E"/>
            </a:solidFill>
            <a:prstDash val="solid"/>
          </a:ln>
          <a:effectLst>
            <a:outerShdw sx="100000" sy="100000" kx="0" ky="0" algn="bl" rotWithShape="0" blurRad="76200" dist="25400" dir="7800000">
              <a:srgbClr val="000000">
                <a:alpha val="20000"/>
              </a:srgbClr>
            </a:outerShdw>
          </a:effectLst>
        </p:spPr>
      </p:sp>
      <p:sp>
        <p:nvSpPr>
          <p:cNvPr id="73" name="Shape 63"/>
          <p:cNvSpPr/>
          <p:nvPr/>
        </p:nvSpPr>
        <p:spPr>
          <a:xfrm>
            <a:off x="6693408" y="4648810"/>
            <a:ext cx="320040" cy="320040"/>
          </a:xfrm>
          <a:prstGeom prst="ellipse">
            <a:avLst/>
          </a:prstGeom>
          <a:solidFill>
            <a:srgbClr val="0A6A7E">
              <a:alpha val="70000"/>
            </a:srgbClr>
          </a:solidFill>
          <a:ln w="6350">
            <a:solidFill>
              <a:srgbClr val="0EA5C2"/>
            </a:solidFill>
            <a:prstDash val="solid"/>
          </a:ln>
        </p:spPr>
      </p:sp>
      <p:pic>
        <p:nvPicPr>
          <p:cNvPr id="7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4685386"/>
            <a:ext cx="246888" cy="246888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7123176" y="461223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 실시간 현황</a:t>
            </a:r>
            <a:endParaRPr lang="en-US" sz="1150" dirty="0"/>
          </a:p>
        </p:txBody>
      </p:sp>
      <p:sp>
        <p:nvSpPr>
          <p:cNvPr id="76" name="Text 65"/>
          <p:cNvSpPr/>
          <p:nvPr/>
        </p:nvSpPr>
        <p:spPr>
          <a:xfrm>
            <a:off x="7123176" y="4868266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전체 Pool·배정·가용 수량 한눈에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C4D4"/>
                </a:solidFill>
              </a:rPr>
              <a:t>Excel 다운로드로 정기 백업 가능</a:t>
            </a:r>
            <a:endParaRPr lang="en-US" sz="900" dirty="0"/>
          </a:p>
        </p:txBody>
      </p:sp>
      <p:sp>
        <p:nvSpPr>
          <p:cNvPr id="77" name="Shape 66"/>
          <p:cNvSpPr/>
          <p:nvPr/>
        </p:nvSpPr>
        <p:spPr>
          <a:xfrm>
            <a:off x="6647688" y="5424221"/>
            <a:ext cx="4434840" cy="7315"/>
          </a:xfrm>
          <a:prstGeom prst="rect">
            <a:avLst/>
          </a:prstGeom>
          <a:solidFill>
            <a:srgbClr val="0A6A7E">
              <a:alpha val="50000"/>
            </a:srgbClr>
          </a:solidFill>
          <a:ln w="12700">
            <a:solidFill>
              <a:srgbClr val="0A6A7E"/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6556248" y="5497373"/>
            <a:ext cx="4617720" cy="848563"/>
          </a:xfrm>
          <a:prstGeom prst="roundRect">
            <a:avLst>
              <a:gd name="adj" fmla="val 10776"/>
            </a:avLst>
          </a:prstGeom>
          <a:solidFill>
            <a:srgbClr val="0A6A7E">
              <a:alpha val="80000"/>
            </a:srgbClr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7800000">
              <a:srgbClr val="000000">
                <a:alpha val="20000"/>
              </a:srgbClr>
            </a:outerShdw>
          </a:effectLst>
        </p:spPr>
      </p:sp>
      <p:sp>
        <p:nvSpPr>
          <p:cNvPr id="79" name="Shape 68"/>
          <p:cNvSpPr/>
          <p:nvPr/>
        </p:nvSpPr>
        <p:spPr>
          <a:xfrm>
            <a:off x="6693408" y="5588813"/>
            <a:ext cx="320040" cy="320040"/>
          </a:xfrm>
          <a:prstGeom prst="ellipse">
            <a:avLst/>
          </a:prstGeom>
          <a:solidFill>
            <a:srgbClr val="0A6A7E">
              <a:alpha val="70000"/>
            </a:srgbClr>
          </a:solidFill>
          <a:ln w="6350">
            <a:solidFill>
              <a:srgbClr val="0EA5C2"/>
            </a:solidFill>
            <a:prstDash val="solid"/>
          </a:ln>
        </p:spPr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9984" y="5625389"/>
            <a:ext cx="246888" cy="246888"/>
          </a:xfrm>
          <a:prstGeom prst="rect">
            <a:avLst/>
          </a:prstGeom>
        </p:spPr>
      </p:pic>
      <p:sp>
        <p:nvSpPr>
          <p:cNvPr id="81" name="Shape 69"/>
          <p:cNvSpPr/>
          <p:nvPr/>
        </p:nvSpPr>
        <p:spPr>
          <a:xfrm>
            <a:off x="10351008" y="5570525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0EA5C2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2" name="Text 70"/>
          <p:cNvSpPr/>
          <p:nvPr/>
        </p:nvSpPr>
        <p:spPr>
          <a:xfrm>
            <a:off x="10351008" y="5570525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🆕 NEW</a:t>
            </a:r>
            <a:endParaRPr lang="en-US" sz="800" dirty="0"/>
          </a:p>
        </p:txBody>
      </p:sp>
      <p:sp>
        <p:nvSpPr>
          <p:cNvPr id="83" name="Text 71"/>
          <p:cNvSpPr/>
          <p:nvPr/>
        </p:nvSpPr>
        <p:spPr>
          <a:xfrm>
            <a:off x="7123176" y="555223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JSONBin.io 멀티유저 동기화 + 웹 배포</a:t>
            </a:r>
            <a:endParaRPr lang="en-US" sz="1150" dirty="0"/>
          </a:p>
        </p:txBody>
      </p:sp>
      <p:sp>
        <p:nvSpPr>
          <p:cNvPr id="84" name="Text 72"/>
          <p:cNvSpPr/>
          <p:nvPr/>
        </p:nvSpPr>
        <p:spPr>
          <a:xfrm>
            <a:off x="7123176" y="5808269"/>
            <a:ext cx="3977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API Key 고정 내장 → 어느 PC에서나 자동 동기화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GitHub Pages — URL 하나로 언제 어디서든 접속</a:t>
            </a:r>
            <a:endParaRPr lang="en-US" sz="900" dirty="0"/>
          </a:p>
        </p:txBody>
      </p:sp>
      <p:sp>
        <p:nvSpPr>
          <p:cNvPr id="85" name="Shape 73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0" y="6510528"/>
            <a:ext cx="12161520" cy="16459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7" name="Shape 75"/>
          <p:cNvSpPr/>
          <p:nvPr/>
        </p:nvSpPr>
        <p:spPr>
          <a:xfrm>
            <a:off x="201168" y="6574536"/>
            <a:ext cx="2148840" cy="219456"/>
          </a:xfrm>
          <a:prstGeom prst="roundRect">
            <a:avLst>
              <a:gd name="adj" fmla="val 25000"/>
            </a:avLst>
          </a:prstGeom>
          <a:solidFill>
            <a:srgbClr val="7B1A12">
              <a:alpha val="70000"/>
            </a:srgbClr>
          </a:solidFill>
          <a:ln w="7620">
            <a:solidFill>
              <a:srgbClr val="C0392B"/>
            </a:solidFill>
            <a:prstDash val="solid"/>
          </a:ln>
        </p:spPr>
      </p:sp>
      <p:sp>
        <p:nvSpPr>
          <p:cNvPr id="88" name="Text 76"/>
          <p:cNvSpPr/>
          <p:nvPr/>
        </p:nvSpPr>
        <p:spPr>
          <a:xfrm>
            <a:off x="201168" y="65745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</a:rPr>
              <a:t>❌  비효율 · 불투명 · 이력없음 · 접근불편</a:t>
            </a:r>
            <a:endParaRPr lang="en-US" sz="850" dirty="0"/>
          </a:p>
        </p:txBody>
      </p:sp>
      <p:sp>
        <p:nvSpPr>
          <p:cNvPr id="89" name="Text 77"/>
          <p:cNvSpPr/>
          <p:nvPr/>
        </p:nvSpPr>
        <p:spPr>
          <a:xfrm>
            <a:off x="5715000" y="6565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⟹</a:t>
            </a:r>
            <a:endParaRPr lang="en-US" sz="1600" dirty="0"/>
          </a:p>
        </p:txBody>
      </p:sp>
      <p:sp>
        <p:nvSpPr>
          <p:cNvPr id="90" name="Shape 78"/>
          <p:cNvSpPr/>
          <p:nvPr/>
        </p:nvSpPr>
        <p:spPr>
          <a:xfrm>
            <a:off x="9802368" y="6574536"/>
            <a:ext cx="2148840" cy="219456"/>
          </a:xfrm>
          <a:prstGeom prst="roundRect">
            <a:avLst>
              <a:gd name="adj" fmla="val 25000"/>
            </a:avLst>
          </a:prstGeom>
          <a:solidFill>
            <a:srgbClr val="0A6A7E">
              <a:alpha val="70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91" name="Text 79"/>
          <p:cNvSpPr/>
          <p:nvPr/>
        </p:nvSpPr>
        <p:spPr>
          <a:xfrm>
            <a:off x="9802368" y="65745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✅  자동화 · 투명 · 누구나 · 언제어디서나</a:t>
            </a:r>
            <a:endParaRPr lang="en-US" sz="850" dirty="0"/>
          </a:p>
        </p:txBody>
      </p:sp>
      <p:sp>
        <p:nvSpPr>
          <p:cNvPr id="92" name="Text 80"/>
          <p:cNvSpPr/>
          <p:nvPr/>
        </p:nvSpPr>
        <p:spPr>
          <a:xfrm>
            <a:off x="4251960" y="6601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570"/>
                </a:solidFill>
              </a:rPr>
              <a:t>EB  ·  Visio LMS  ·  ver 1.1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EB Visio LMS</dc:creator>
  <cp:lastModifiedBy>EB Visio LMS</cp:lastModifiedBy>
  <cp:revision>1</cp:revision>
  <dcterms:created xsi:type="dcterms:W3CDTF">2026-06-22T23:40:39Z</dcterms:created>
  <dcterms:modified xsi:type="dcterms:W3CDTF">2026-06-22T23:40:39Z</dcterms:modified>
</cp:coreProperties>
</file>