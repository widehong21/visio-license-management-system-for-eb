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46304"/>
            <a:ext cx="1417320" cy="365760"/>
          </a:xfrm>
          <a:prstGeom prst="roundRect">
            <a:avLst>
              <a:gd name="adj" fmla="val 25000"/>
            </a:avLst>
          </a:prstGeom>
          <a:solidFill>
            <a:srgbClr val="1D4ED8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4630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🔷 EB Visio LMS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920240" y="1097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Visio 라이선스 관리 — 현재 방식과 개선 방향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182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2026. 06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3913632" cy="475488"/>
          </a:xfrm>
          <a:prstGeom prst="roundRect">
            <a:avLst>
              <a:gd name="adj" fmla="val 1923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850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7498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AS-IS  |  현재 방식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6384" y="7498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ECACA"/>
                </a:solidFill>
              </a:rPr>
              <a:t>수작업 · 이메일 의존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242816" y="786384"/>
            <a:ext cx="658368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42816" y="78638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개선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74336" y="749808"/>
            <a:ext cx="3913632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85039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04688" y="7498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TO-BE  |  개선 방향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04688" y="7498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DBFE"/>
                </a:solidFill>
              </a:rPr>
              <a:t>EB Visio LMS 도입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56032" y="1316736"/>
            <a:ext cx="3913632" cy="3310128"/>
          </a:xfrm>
          <a:prstGeom prst="roundRect">
            <a:avLst>
              <a:gd name="adj" fmla="val 331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74336" y="1316736"/>
            <a:ext cx="3913632" cy="3310128"/>
          </a:xfrm>
          <a:prstGeom prst="roundRect">
            <a:avLst>
              <a:gd name="adj" fmla="val 331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352544" y="274320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▶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384048" y="140817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2064" y="1481328"/>
            <a:ext cx="402336" cy="4023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45336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05840" y="144475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수작업 Excel 관리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005840" y="165506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담당자마다 파일 버전이 달라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중복 배정·누락이 빈번하게 발생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384048" y="204825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12064" y="2121408"/>
            <a:ext cx="402336" cy="402336"/>
          </a:xfrm>
          <a:prstGeom prst="ellipse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18541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5840" y="208483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이메일 신청 · 구두 승인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005840" y="229514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신청 이력이 메일함에 분산되어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처리 현황 파악 및 추적 불가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384048" y="268833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12064" y="2761488"/>
            <a:ext cx="402336" cy="40233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2825496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05840" y="272491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가용 수량 파악 불가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1005840" y="293522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실시간 잔여 라이선스를 알 수 없어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과·미달 배정이 반복적으로 발생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384048" y="332841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512064" y="3401568"/>
            <a:ext cx="402336" cy="402336"/>
          </a:xfrm>
          <a:prstGeom prst="ellipse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465576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05840" y="336499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감사 이력 없음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1005840" y="357530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누가 언제 신청·승인했는지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기록이 없어 감사 대응 불가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384048" y="396849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512064" y="4041648"/>
            <a:ext cx="402336" cy="402336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4105656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05840" y="400507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신청 접근 불편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1005840" y="421538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담당자 로그인 후에야 신청 가능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부재 시 업무 지연 발생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5102352" y="140817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5230368" y="148132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4376" y="1545336"/>
            <a:ext cx="274320" cy="27432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724144" y="144475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로그인 없이 즉시 신청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5724144" y="165506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버튼 클릭 → 팝업 즉시 진입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누구든 언제나 신청 가능</a:t>
            </a:r>
            <a:endParaRPr lang="en-US" sz="850" dirty="0"/>
          </a:p>
        </p:txBody>
      </p:sp>
      <p:sp>
        <p:nvSpPr>
          <p:cNvPr id="50" name="Shape 40"/>
          <p:cNvSpPr/>
          <p:nvPr/>
        </p:nvSpPr>
        <p:spPr>
          <a:xfrm>
            <a:off x="5102352" y="204825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5230368" y="2121408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4376" y="2185416"/>
            <a:ext cx="274320" cy="27432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5724144" y="208483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온라인 신청 · 자동 배정</a:t>
            </a:r>
            <a:endParaRPr lang="en-US" sz="1100" dirty="0"/>
          </a:p>
        </p:txBody>
      </p:sp>
      <p:sp>
        <p:nvSpPr>
          <p:cNvPr id="54" name="Text 43"/>
          <p:cNvSpPr/>
          <p:nvPr/>
        </p:nvSpPr>
        <p:spPr>
          <a:xfrm>
            <a:off x="5724144" y="229514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시스템이 가용 시리얼번호를 자동 배정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중복·누락 원천 차단</a:t>
            </a:r>
            <a:endParaRPr lang="en-US" sz="850" dirty="0"/>
          </a:p>
        </p:txBody>
      </p:sp>
      <p:sp>
        <p:nvSpPr>
          <p:cNvPr id="55" name="Shape 44"/>
          <p:cNvSpPr/>
          <p:nvPr/>
        </p:nvSpPr>
        <p:spPr>
          <a:xfrm>
            <a:off x="5102352" y="268833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5230368" y="2761488"/>
            <a:ext cx="402336" cy="402336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4376" y="2825496"/>
            <a:ext cx="274320" cy="274320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5724144" y="272491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승인 워크플로우 + 감사 로그</a:t>
            </a:r>
            <a:endParaRPr lang="en-US" sz="1100" dirty="0"/>
          </a:p>
        </p:txBody>
      </p:sp>
      <p:sp>
        <p:nvSpPr>
          <p:cNvPr id="59" name="Text 47"/>
          <p:cNvSpPr/>
          <p:nvPr/>
        </p:nvSpPr>
        <p:spPr>
          <a:xfrm>
            <a:off x="5724144" y="293522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신청→승인→배정 전 과정 기록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언제든 이력 조회 및 감사 대응 가능</a:t>
            </a:r>
            <a:endParaRPr lang="en-US" sz="850" dirty="0"/>
          </a:p>
        </p:txBody>
      </p:sp>
      <p:sp>
        <p:nvSpPr>
          <p:cNvPr id="60" name="Shape 48"/>
          <p:cNvSpPr/>
          <p:nvPr/>
        </p:nvSpPr>
        <p:spPr>
          <a:xfrm>
            <a:off x="5102352" y="332841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1" name="Shape 49"/>
          <p:cNvSpPr/>
          <p:nvPr/>
        </p:nvSpPr>
        <p:spPr>
          <a:xfrm>
            <a:off x="5230368" y="3401568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94376" y="3465576"/>
            <a:ext cx="274320" cy="274320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5724144" y="336499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Dashboard 실시간 현황</a:t>
            </a:r>
            <a:endParaRPr lang="en-US" sz="1100" dirty="0"/>
          </a:p>
        </p:txBody>
      </p:sp>
      <p:sp>
        <p:nvSpPr>
          <p:cNvPr id="64" name="Text 51"/>
          <p:cNvSpPr/>
          <p:nvPr/>
        </p:nvSpPr>
        <p:spPr>
          <a:xfrm>
            <a:off x="5724144" y="357530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전체 Pool·배정·가용 수량 한눈에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Excel 다운로드로 정기 백업 가능</a:t>
            </a:r>
            <a:endParaRPr lang="en-US" sz="850" dirty="0"/>
          </a:p>
        </p:txBody>
      </p:sp>
      <p:sp>
        <p:nvSpPr>
          <p:cNvPr id="65" name="Shape 52"/>
          <p:cNvSpPr/>
          <p:nvPr/>
        </p:nvSpPr>
        <p:spPr>
          <a:xfrm>
            <a:off x="5102352" y="396849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66" name="Shape 53"/>
          <p:cNvSpPr/>
          <p:nvPr/>
        </p:nvSpPr>
        <p:spPr>
          <a:xfrm>
            <a:off x="5230368" y="4041648"/>
            <a:ext cx="402336" cy="402336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4376" y="4105656"/>
            <a:ext cx="274320" cy="274320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5724144" y="400507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GitHub Pages 웹 배포</a:t>
            </a:r>
            <a:endParaRPr lang="en-US" sz="1100" dirty="0"/>
          </a:p>
        </p:txBody>
      </p:sp>
      <p:sp>
        <p:nvSpPr>
          <p:cNvPr id="69" name="Text 55"/>
          <p:cNvSpPr/>
          <p:nvPr/>
        </p:nvSpPr>
        <p:spPr>
          <a:xfrm>
            <a:off x="5724144" y="421538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URL 하나로 PC·모바일 어디서나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파일 배포 없이 항상 최신 버전</a:t>
            </a:r>
            <a:endParaRPr lang="en-US" sz="850" dirty="0"/>
          </a:p>
        </p:txBody>
      </p:sp>
      <p:sp>
        <p:nvSpPr>
          <p:cNvPr id="70" name="Shape 56"/>
          <p:cNvSpPr/>
          <p:nvPr/>
        </p:nvSpPr>
        <p:spPr>
          <a:xfrm>
            <a:off x="256032" y="4663440"/>
            <a:ext cx="3913632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1" name="Text 57"/>
          <p:cNvSpPr/>
          <p:nvPr/>
        </p:nvSpPr>
        <p:spPr>
          <a:xfrm>
            <a:off x="256032" y="466344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❌  비효율 · 불투명 · 이력없음 · 접근불편</a:t>
            </a:r>
            <a:endParaRPr lang="en-US" sz="1000" dirty="0"/>
          </a:p>
        </p:txBody>
      </p:sp>
      <p:sp>
        <p:nvSpPr>
          <p:cNvPr id="72" name="Text 58"/>
          <p:cNvSpPr/>
          <p:nvPr/>
        </p:nvSpPr>
        <p:spPr>
          <a:xfrm>
            <a:off x="4169664" y="467258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⟹</a:t>
            </a:r>
            <a:endParaRPr lang="en-US" sz="2200" dirty="0"/>
          </a:p>
        </p:txBody>
      </p:sp>
      <p:sp>
        <p:nvSpPr>
          <p:cNvPr id="73" name="Shape 59"/>
          <p:cNvSpPr/>
          <p:nvPr/>
        </p:nvSpPr>
        <p:spPr>
          <a:xfrm>
            <a:off x="4974336" y="4663440"/>
            <a:ext cx="3913632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4" name="Text 60"/>
          <p:cNvSpPr/>
          <p:nvPr/>
        </p:nvSpPr>
        <p:spPr>
          <a:xfrm>
            <a:off x="4974336" y="466344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자동화 · 투명 · 누구나 · 언제어디서나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 Visio LMS As-Is To-Be</dc:title>
  <dc:subject>PptxGenJS Presentation</dc:subject>
  <dc:creator>PptxGenJS</dc:creator>
  <cp:lastModifiedBy>PptxGenJS</cp:lastModifiedBy>
  <cp:revision>1</cp:revision>
  <dcterms:created xsi:type="dcterms:W3CDTF">2026-06-09T14:09:22Z</dcterms:created>
  <dcterms:modified xsi:type="dcterms:W3CDTF">2026-06-09T14:09:22Z</dcterms:modified>
</cp:coreProperties>
</file>